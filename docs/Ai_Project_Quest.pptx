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2"/>
  </p:notesMasterIdLst>
  <p:sldIdLst>
    <p:sldId id="297" r:id="rId2"/>
    <p:sldId id="281" r:id="rId3"/>
    <p:sldId id="298" r:id="rId4"/>
    <p:sldId id="290" r:id="rId5"/>
    <p:sldId id="299" r:id="rId6"/>
    <p:sldId id="302" r:id="rId7"/>
    <p:sldId id="303" r:id="rId8"/>
    <p:sldId id="304" r:id="rId9"/>
    <p:sldId id="305" r:id="rId10"/>
    <p:sldId id="296" r:id="rId11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525"/>
    <a:srgbClr val="FFFF66"/>
    <a:srgbClr val="FFFF99"/>
    <a:srgbClr val="727272"/>
    <a:srgbClr val="368DCE"/>
    <a:srgbClr val="3F82CC"/>
    <a:srgbClr val="4F8FD9"/>
    <a:srgbClr val="0B1220"/>
    <a:srgbClr val="4987D2"/>
    <a:srgbClr val="9BBB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45FC8-AC71-F222-C336-AE739C181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3C12C8BE-1B2B-FE01-EA71-DFA3A8B7D9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30BA5528-5239-3756-BE18-2D29D22E414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4A38BFEB-9D8D-F2DE-832C-7F4ECB0A73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780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D5A6A-C9A0-0021-2CE8-144EC257D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0C73E6ED-B139-B402-80CC-037310F9AB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D1A6F670-DE21-9336-696E-FE10048467A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279ADD28-407A-4D06-C4A6-BF4C90A622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3411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C7D81-89F5-E8D9-603C-DD87C8BA7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DA7C3B5E-B4D0-0DF7-1E76-D6682EB2AA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A2735842-F435-9BE3-BE24-EFA12DFCF1B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86550910-A219-021B-FAB6-F087C61428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284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6B3F5-6BFA-D9CE-0B44-A2A6256A2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DD845A56-1335-C60B-2743-A3D368184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88D00D8B-3348-5C08-5FDD-7D7A7DE0C6B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5966A84E-C9F1-9C4F-25F9-18354109AC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41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E8B02-9FC5-923C-D606-668AAD761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4FAEE96F-1D07-B421-2F5B-F55DADFE6A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162675BA-0EC0-5DF5-D6B6-457EFE1524B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EAF0A756-836F-685B-D400-045E444844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782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726AF-8472-3D4B-1209-A71631D9C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487CBB76-A54E-FAFF-7ABB-E67158629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007BBF60-44F9-E067-7783-13D0196430C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4E77E325-1A7C-25C8-C2DD-9A434B871D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1520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764AD-3774-7C60-E933-1679618CA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40F7421D-2D96-EC8E-2CE9-08F92F748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6706FA82-E652-E9E8-DAB7-229CD018F96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1D9D4CD6-88E9-AC9C-78F9-14FE6D67CB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2553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s://sachet.ndma.gov.in/" TargetMode="External"/><Relationship Id="rId7" Type="http://schemas.openxmlformats.org/officeDocument/2006/relationships/hyperlink" Target="https://doi.org/10.1016/j.ijdrr.2019.101313" TargetMode="External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80/19475705.2024.2383768" TargetMode="External"/><Relationship Id="rId11" Type="http://schemas.openxmlformats.org/officeDocument/2006/relationships/image" Target="../media/image13.png"/><Relationship Id="rId5" Type="http://schemas.openxmlformats.org/officeDocument/2006/relationships/hyperlink" Target="https://doi.org/10.1016/j.ijproman.2008.10.001" TargetMode="External"/><Relationship Id="rId10" Type="http://schemas.openxmlformats.org/officeDocument/2006/relationships/image" Target="../media/image12.png"/><Relationship Id="rId4" Type="http://schemas.openxmlformats.org/officeDocument/2006/relationships/hyperlink" Target="https://www.isro.gov.in/DBEM.html" TargetMode="External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3BE77-4FBD-22B1-D5EE-571DF8413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83F31-4ABC-B820-8A90-773C8E0A1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1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C110415-F014-6E2D-5A43-C714F25CF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0F149C-DBA0-E79E-2873-EA09C5562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380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52D29C-506B-5C79-6EEE-1463BF14F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D6614-68C3-76E1-B382-393339672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D0F4A-19E4-E777-6D70-02DBC1418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B084D2-DC10-639E-B4BD-BAADB389B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C308FA-A4C7-9BB8-AB27-8B305AE4B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7" y="0"/>
            <a:ext cx="121709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877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19D64B-CCBA-CEDF-8DB4-E4B52480F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90352-3FAD-4450-8AE4-A39FC7F57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51F4E-26C9-36BB-EB56-83DE455B9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5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E604F94-6F24-1826-C62E-C16821DCD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C15C59-10BC-30F7-5DD7-246804429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458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6B254-8155-927A-750B-DE85C3D77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0116B-C0F8-B096-EE27-D41B3AD1B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6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861B1AB-1972-D3AF-0D6C-A523E9B83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BF8753-34F4-65A6-6EB1-80DFB8350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940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E08D2-6C9D-08E0-BFF4-F22BCCD95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A29F8-A500-D4D7-0712-C4FBC68DC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7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36FDE4-1FA9-FCBD-50E2-F040A256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84B204-6359-AC41-13D9-8E0B0EB8E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969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85359-6AE7-D81F-89B5-78241008D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56719-7D0E-F36D-0F03-89135EDE1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8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0C58332-96D5-413F-5327-3467974A0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179191-2819-8FD2-EF26-1A1D5BCBB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" y="0"/>
            <a:ext cx="121784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040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A003A-F964-0B02-E31B-950452E7D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C0C16-9F3F-B054-1D09-E9F21A74A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9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DE1222-BAA2-AB0E-61BE-3DFAEA17D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E879A3-8AD6-E1DE-227C-FD7025536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" y="0"/>
            <a:ext cx="121784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596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90728" y="20564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501641B-9BB6-2CF2-E040-C0B77600D43B}"/>
              </a:ext>
            </a:extLst>
          </p:cNvPr>
          <p:cNvGrpSpPr/>
          <p:nvPr/>
        </p:nvGrpSpPr>
        <p:grpSpPr>
          <a:xfrm>
            <a:off x="894412" y="1512622"/>
            <a:ext cx="10972800" cy="4213059"/>
            <a:chOff x="955701" y="1948434"/>
            <a:chExt cx="9137011" cy="362790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8FB6DC4-04D4-DF3D-5325-2A684EC245FD}"/>
                </a:ext>
              </a:extLst>
            </p:cNvPr>
            <p:cNvSpPr txBox="1"/>
            <p:nvPr/>
          </p:nvSpPr>
          <p:spPr>
            <a:xfrm>
              <a:off x="1173554" y="2166908"/>
              <a:ext cx="8919158" cy="31393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References / Research Sources:</a:t>
              </a:r>
            </a:p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hlinkClick r:id="rId3"/>
                </a:rPr>
                <a:t>NDMA – SACHET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hlinkClick r:id="rId4"/>
                </a:rPr>
                <a:t>ISRO – National Database for Emergency Management (NDEM)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hlinkClick r:id="rId5"/>
                </a:rPr>
                <a:t>Yan et al. (2009) – Disaster Rescue &amp; Time-Critical Decision Making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hlinkClick r:id="rId6"/>
                </a:rPr>
                <a:t>Qiu et al. (2024) – Manual Analysis &amp; Earthquake Emergency Decision-Making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hlinkClick r:id="rId7"/>
                </a:rPr>
                <a:t>Chan &amp; Tsai (2019) – Data Overload &amp; Emergency Decision Support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8C30A3B-FD7F-4A1C-B4DF-0B0B760F5F34}"/>
                </a:ext>
              </a:extLst>
            </p:cNvPr>
            <p:cNvSpPr/>
            <p:nvPr/>
          </p:nvSpPr>
          <p:spPr>
            <a:xfrm>
              <a:off x="955701" y="1948434"/>
              <a:ext cx="8919158" cy="3627907"/>
            </a:xfrm>
            <a:prstGeom prst="roundRect">
              <a:avLst/>
            </a:prstGeom>
            <a:noFill/>
            <a:effectLst>
              <a:glow rad="63500">
                <a:schemeClr val="tx1">
                  <a:lumMod val="95000"/>
                  <a:lumOff val="5000"/>
                  <a:alpha val="40000"/>
                </a:schemeClr>
              </a:glow>
              <a:innerShdw dist="50800" dir="2700000">
                <a:prstClr val="black">
                  <a:alpha val="50000"/>
                </a:prst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42A73D7A-98A7-FA6B-CA29-6B596C31B2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7974" y="2228395"/>
            <a:ext cx="1744232" cy="951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BE5372D-DC24-7E2F-3A38-2CB49BA699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13688" y="4507642"/>
            <a:ext cx="941534" cy="100691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BC21C4D-8EF3-4363-B73D-5D3FF4C366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31567" y="3894943"/>
            <a:ext cx="1900529" cy="51014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AE94F90-91D2-9BBE-D57B-F3AF176FCD4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13688" y="3203733"/>
            <a:ext cx="941533" cy="7593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35B0102-AC28-D2B2-C202-6A727DE9579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84581" y="2106324"/>
            <a:ext cx="762567" cy="72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7954</TotalTime>
  <Words>132</Words>
  <Application>Microsoft Office PowerPoint</Application>
  <PresentationFormat>Widescreen</PresentationFormat>
  <Paragraphs>42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Sahasra Grandhi</cp:lastModifiedBy>
  <cp:revision>157</cp:revision>
  <dcterms:created xsi:type="dcterms:W3CDTF">2013-12-12T18:46:50Z</dcterms:created>
  <dcterms:modified xsi:type="dcterms:W3CDTF">2026-09-10T15:25:02Z</dcterms:modified>
  <cp:category/>
</cp:coreProperties>
</file>